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0" cy="43200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coeng_header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400000" cy="57790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07592" y="1216152"/>
            <a:ext cx="14173200" cy="2057400"/>
          </a:xfrm>
          <a:prstGeom prst="roundRect">
            <a:avLst>
              <a:gd name="adj" fmla="val 13000"/>
            </a:avLst>
          </a:prstGeom>
          <a:solidFill>
            <a:srgbClr val="0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38528" y="1472184"/>
            <a:ext cx="12984480" cy="1435608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80"/>
              </a:spcAft>
            </a:pPr>
            <a:r>
              <a:rPr sz="6800" b="1" i="0">
                <a:solidFill>
                  <a:srgbClr val="FFFFFF"/>
                </a:solidFill>
                <a:latin typeface="Inter"/>
              </a:rPr>
              <a:t>ENCOENG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53312" y="3858768"/>
            <a:ext cx="13734288" cy="8412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82496" y="3941063"/>
            <a:ext cx="13094208" cy="676656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80"/>
              </a:spcAft>
            </a:pPr>
            <a:r>
              <a:rPr sz="2800" b="1" i="0">
                <a:solidFill>
                  <a:srgbClr val="0B3A6B"/>
                </a:solidFill>
                <a:latin typeface="Inter"/>
              </a:rPr>
              <a:t>13º ENCONTRO REGIONAL DE ENGENHARIA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669280"/>
            <a:ext cx="32400000" cy="100584"/>
          </a:xfrm>
          <a:prstGeom prst="rect">
            <a:avLst/>
          </a:prstGeom>
          <a:solidFill>
            <a:srgbClr val="0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669280"/>
            <a:ext cx="12161520" cy="100584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81328" y="6291072"/>
            <a:ext cx="11338560" cy="777240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91056" y="6300216"/>
            <a:ext cx="11119104" cy="749808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80"/>
              </a:spcAft>
            </a:pPr>
            <a:r>
              <a:rPr sz="2800" b="1" i="0">
                <a:solidFill>
                  <a:srgbClr val="0E6FA8"/>
                </a:solidFill>
                <a:latin typeface="Inter"/>
              </a:rPr>
              <a:t>BANNER CIENTÍFICO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22440" y="6318504"/>
            <a:ext cx="11265408" cy="667512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270"/>
              </a:spcAft>
            </a:pPr>
            <a:r>
              <a:rPr sz="2700" b="1" i="0">
                <a:solidFill>
                  <a:srgbClr val="5B7391"/>
                </a:solidFill>
                <a:latin typeface="Inter"/>
              </a:rPr>
              <a:t>APRESENTAÇÃO DE ARTIGO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7342631"/>
            <a:ext cx="29416248" cy="2331720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40"/>
              </a:spcAft>
            </a:pPr>
            <a:r>
              <a:rPr sz="8400" b="1" i="0">
                <a:solidFill>
                  <a:srgbClr val="0B3A6B"/>
                </a:solidFill>
                <a:latin typeface="Inter"/>
              </a:rPr>
              <a:t>CAIS: peixe fresco de Manaus no celular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99616" y="10012680"/>
            <a:ext cx="3931920" cy="109728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17904" y="10405872"/>
            <a:ext cx="29260800" cy="914400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 i="0">
                <a:solidFill>
                  <a:srgbClr val="183A50"/>
                </a:solidFill>
                <a:latin typeface="Inter"/>
              </a:rPr>
              <a:t>Emanuel Alexandre¹  •  Luis Neto¹  •  Rhyan Diogo¹  •  Prof. Mário Cavalcante²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11475720"/>
            <a:ext cx="29169360" cy="630936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80"/>
              </a:spcAft>
            </a:pPr>
            <a:r>
              <a:rPr sz="2800" b="0" i="0">
                <a:solidFill>
                  <a:srgbClr val="5B7391"/>
                </a:solidFill>
                <a:latin typeface="Inter"/>
              </a:rPr>
              <a:t>¹ Fucapi / Engenharia de Software    ² Fucapi / Engenharia de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12335256"/>
            <a:ext cx="29169360" cy="658368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70"/>
              </a:spcAft>
            </a:pPr>
            <a:r>
              <a:rPr sz="2700" b="0" i="0">
                <a:solidFill>
                  <a:srgbClr val="5B7391"/>
                </a:solidFill>
                <a:latin typeface="Inter"/>
              </a:rPr>
              <a:t>Contato: [e-mail do autor responsável]    |    Área temática: [preencher]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90472" y="13304520"/>
            <a:ext cx="29397960" cy="969264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13459968"/>
            <a:ext cx="28785312" cy="60350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60"/>
              </a:spcAft>
            </a:pPr>
            <a:r>
              <a:rPr sz="2600" b="1" i="0">
                <a:solidFill>
                  <a:srgbClr val="0B3A6B"/>
                </a:solidFill>
                <a:latin typeface="Inter"/>
              </a:rPr>
              <a:t>TEMA DO EVENTO  •  Data Centers × Recursos Naturais: o papel do engenheiro na gestão dos recursos para a 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9616" y="14511528"/>
            <a:ext cx="29397960" cy="32004"/>
          </a:xfrm>
          <a:prstGeom prst="rect">
            <a:avLst/>
          </a:prstGeom>
          <a:solidFill>
            <a:srgbClr val="D3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81328" y="14977872"/>
            <a:ext cx="14383512" cy="4736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81328" y="14977872"/>
            <a:ext cx="118872" cy="4736592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84248" y="15389351"/>
            <a:ext cx="1152144" cy="612648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93976" y="15398496"/>
            <a:ext cx="932688" cy="585216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70"/>
              </a:spcAft>
            </a:pPr>
            <a:r>
              <a:rPr sz="2700" b="1" i="0">
                <a:solidFill>
                  <a:srgbClr val="0E6FA8"/>
                </a:solidFill>
                <a:latin typeface="Inter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15334488"/>
            <a:ext cx="11868912" cy="78638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20"/>
              </a:spcAft>
            </a:pPr>
            <a:r>
              <a:rPr sz="4200" b="1" i="0">
                <a:solidFill>
                  <a:srgbClr val="0B3A6B"/>
                </a:solidFill>
                <a:latin typeface="Inter"/>
              </a:rPr>
              <a:t>RESUMO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56816" y="16322039"/>
            <a:ext cx="13432536" cy="21945"/>
          </a:xfrm>
          <a:prstGeom prst="rect">
            <a:avLst/>
          </a:prstGeom>
          <a:solidFill>
            <a:srgbClr val="D3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39696" y="16523208"/>
            <a:ext cx="13075920" cy="2103120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3000" b="0" i="0">
                <a:solidFill>
                  <a:srgbClr val="5B7391"/>
                </a:solidFill>
                <a:latin typeface="Inter"/>
              </a:rPr>
              <a:t>App que liga vendedores de pescado de Manaus a clientes jovens, com entrega por moto por zona ou retirada sem taxa. Protótipo no Figma.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18937224"/>
            <a:ext cx="13075920" cy="548640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40"/>
              </a:spcAft>
            </a:pPr>
            <a:r>
              <a:rPr sz="2400" b="1" i="0">
                <a:solidFill>
                  <a:srgbClr val="0E6FA8"/>
                </a:solidFill>
                <a:latin typeface="Inter"/>
              </a:rPr>
              <a:t>PALAVRAS-CHAVE: peixe fresco • marketplace • entrega por zona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81328" y="20016216"/>
            <a:ext cx="14383512" cy="60350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81328" y="20016216"/>
            <a:ext cx="118872" cy="6035040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984248" y="20427696"/>
            <a:ext cx="1152144" cy="612648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93976" y="20436840"/>
            <a:ext cx="932688" cy="585216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70"/>
              </a:spcAft>
            </a:pPr>
            <a:r>
              <a:rPr sz="2700" b="1" i="0">
                <a:solidFill>
                  <a:srgbClr val="0E6FA8"/>
                </a:solidFill>
                <a:latin typeface="Inter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47288" y="20372832"/>
            <a:ext cx="11868912" cy="78638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20"/>
              </a:spcAft>
            </a:pPr>
            <a:r>
              <a:rPr sz="4200" b="1" i="0">
                <a:solidFill>
                  <a:srgbClr val="0B3A6B"/>
                </a:solidFill>
                <a:latin typeface="Inter"/>
              </a:rPr>
              <a:t>INTRODUÇÃO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56816" y="21360384"/>
            <a:ext cx="13432536" cy="21945"/>
          </a:xfrm>
          <a:prstGeom prst="rect">
            <a:avLst/>
          </a:prstGeom>
          <a:solidFill>
            <a:srgbClr val="D3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39696" y="21634704"/>
            <a:ext cx="13075920" cy="1901952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3000" b="0" i="0">
                <a:solidFill>
                  <a:srgbClr val="5B7391"/>
                </a:solidFill>
                <a:latin typeface="Inter"/>
              </a:rPr>
              <a:t>Feirantes e ribeirinhos vendem sobretudo na banca e têm pouco acesso ao digital; clientes de 18 a 30 anos compram tudo pelo celular.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48840" y="23847552"/>
            <a:ext cx="13048488" cy="1645920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24048720"/>
            <a:ext cx="12481560" cy="429768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40"/>
              </a:spcAft>
            </a:pPr>
            <a:r>
              <a:rPr sz="2400" b="1" i="0">
                <a:solidFill>
                  <a:srgbClr val="0E6FA8"/>
                </a:solidFill>
                <a:latin typeface="Inter"/>
              </a:rPr>
              <a:t>PROBLEMA DE PESQUISA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24505920"/>
            <a:ext cx="12481560" cy="612648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70"/>
              </a:spcAft>
            </a:pPr>
            <a:r>
              <a:rPr sz="2700" b="0" i="0">
                <a:solidFill>
                  <a:srgbClr val="0B3A6B"/>
                </a:solidFill>
                <a:latin typeface="Inter"/>
              </a:rPr>
              <a:t>Como vender e entregar peixe fresco de Manaus?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81328" y="26343864"/>
            <a:ext cx="14383512" cy="50932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81328" y="26343864"/>
            <a:ext cx="118872" cy="5093208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984248" y="26755344"/>
            <a:ext cx="1152144" cy="612648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93976" y="26764488"/>
            <a:ext cx="932688" cy="585216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70"/>
              </a:spcAft>
            </a:pPr>
            <a:r>
              <a:rPr sz="2700" b="1" i="0">
                <a:solidFill>
                  <a:srgbClr val="0E6FA8"/>
                </a:solidFill>
                <a:latin typeface="Inter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47288" y="26700480"/>
            <a:ext cx="11868912" cy="78638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20"/>
              </a:spcAft>
            </a:pPr>
            <a:r>
              <a:rPr sz="4200" b="1" i="0">
                <a:solidFill>
                  <a:srgbClr val="0B3A6B"/>
                </a:solidFill>
                <a:latin typeface="Inter"/>
              </a:rPr>
              <a:t>OBJETIVOS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56816" y="27688031"/>
            <a:ext cx="13432536" cy="21945"/>
          </a:xfrm>
          <a:prstGeom prst="rect">
            <a:avLst/>
          </a:prstGeom>
          <a:solidFill>
            <a:srgbClr val="D3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76272" y="27989784"/>
            <a:ext cx="13030200" cy="365760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2500" b="1" i="0">
                <a:solidFill>
                  <a:srgbClr val="0E6FA8"/>
                </a:solidFill>
                <a:latin typeface="Inter"/>
              </a:rPr>
              <a:t>OBJETIVO GERAL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76272" y="28501848"/>
            <a:ext cx="13039344" cy="768096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90"/>
              </a:spcAft>
            </a:pPr>
            <a:r>
              <a:rPr sz="2900" b="0" i="0">
                <a:solidFill>
                  <a:srgbClr val="0B3A6B"/>
                </a:solidFill>
                <a:latin typeface="Inter"/>
              </a:rPr>
              <a:t>Conectar vendedores de pescado a clientes por app.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76272" y="29407103"/>
            <a:ext cx="13030200" cy="402336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2500" b="1" i="0">
                <a:solidFill>
                  <a:srgbClr val="0E6FA8"/>
                </a:solidFill>
                <a:latin typeface="Inter"/>
              </a:rPr>
              <a:t>OBJETIVOS ESPECÍFICOS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76272" y="29891735"/>
            <a:ext cx="13039344" cy="1161288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70"/>
              </a:spcAft>
            </a:pPr>
            <a:r>
              <a:rPr sz="2700" b="0" i="0">
                <a:solidFill>
                  <a:srgbClr val="5B7391"/>
                </a:solidFill>
                <a:latin typeface="Inter"/>
              </a:rPr>
              <a:t>• Catálogo com foto, preço por kg e data da pesca</a:t>
            </a:r>
          </a:p>
          <a:p>
            <a:pPr algn="l">
              <a:lnSpc>
                <a:spcPct val="122000"/>
              </a:lnSpc>
              <a:spcAft>
                <a:spcPts val="270"/>
              </a:spcAft>
            </a:pPr>
            <a:r>
              <a:rPr sz="2700" b="0" i="0">
                <a:solidFill>
                  <a:srgbClr val="5B7391"/>
                </a:solidFill>
                <a:latin typeface="Inter"/>
              </a:rPr>
              <a:t>• Entrega por zona ou retirada, com status do pedido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81328" y="31738824"/>
            <a:ext cx="14383512" cy="8366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81328" y="31738824"/>
            <a:ext cx="118872" cy="8366760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984248" y="32150304"/>
            <a:ext cx="1152144" cy="612648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93976" y="32159448"/>
            <a:ext cx="932688" cy="585216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70"/>
              </a:spcAft>
            </a:pPr>
            <a:r>
              <a:rPr sz="2700" b="1" i="0">
                <a:solidFill>
                  <a:srgbClr val="0E6FA8"/>
                </a:solidFill>
                <a:latin typeface="Inter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47288" y="32095440"/>
            <a:ext cx="11868912" cy="78638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20"/>
              </a:spcAft>
            </a:pPr>
            <a:r>
              <a:rPr sz="4200" b="1" i="0">
                <a:solidFill>
                  <a:srgbClr val="0B3A6B"/>
                </a:solidFill>
                <a:latin typeface="Inter"/>
              </a:rPr>
              <a:t>METODOLOGIA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56816" y="33082992"/>
            <a:ext cx="13432536" cy="21945"/>
          </a:xfrm>
          <a:prstGeom prst="rect">
            <a:avLst/>
          </a:prstGeom>
          <a:solidFill>
            <a:srgbClr val="D3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48840" y="33320735"/>
            <a:ext cx="13057632" cy="3017520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90"/>
              </a:spcAft>
            </a:pPr>
            <a:r>
              <a:rPr sz="2900" b="0" i="0">
                <a:solidFill>
                  <a:srgbClr val="5B7391"/>
                </a:solidFill>
                <a:latin typeface="Inter"/>
              </a:rPr>
              <a:t>Tipo de pesquisa: projeto de desenvolvimento de aplicativo</a:t>
            </a:r>
          </a:p>
          <a:p>
            <a:pPr algn="l">
              <a:lnSpc>
                <a:spcPct val="122000"/>
              </a:lnSpc>
              <a:spcAft>
                <a:spcPts val="290"/>
              </a:spcAft>
            </a:pPr>
            <a:r>
              <a:rPr sz="2900" b="0" i="0">
                <a:solidFill>
                  <a:srgbClr val="5B7391"/>
                </a:solidFill>
                <a:latin typeface="Inter"/>
              </a:rPr>
              <a:t>Materiais: protótipo no Figma e dados simulados (MVP)</a:t>
            </a:r>
          </a:p>
          <a:p>
            <a:pPr algn="l">
              <a:lnSpc>
                <a:spcPct val="122000"/>
              </a:lnSpc>
              <a:spcAft>
                <a:spcPts val="290"/>
              </a:spcAft>
            </a:pPr>
            <a:r>
              <a:rPr sz="2900" b="0" i="0">
                <a:solidFill>
                  <a:srgbClr val="5B7391"/>
                </a:solidFill>
                <a:latin typeface="Inter"/>
              </a:rPr>
              <a:t>Análise: requisitos, escopo do MVP e logística de entrega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48840" y="36447984"/>
            <a:ext cx="13057632" cy="42062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40"/>
              </a:spcAft>
            </a:pPr>
            <a:r>
              <a:rPr sz="2400" b="1" i="0">
                <a:solidFill>
                  <a:srgbClr val="0E6FA8"/>
                </a:solidFill>
                <a:latin typeface="Inter"/>
              </a:rPr>
              <a:t>FLUXO DA PESQUISA (opcional)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121408" y="37078920"/>
            <a:ext cx="3657600" cy="1097280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 w="12700">
            <a:solidFill>
              <a:srgbClr val="B7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31136" y="37325808"/>
            <a:ext cx="3419856" cy="576072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40"/>
              </a:spcAft>
            </a:pPr>
            <a:r>
              <a:rPr sz="2400" b="1" i="0">
                <a:solidFill>
                  <a:srgbClr val="0B3A6B"/>
                </a:solidFill>
                <a:latin typeface="Inter"/>
              </a:rPr>
              <a:t>Levantamento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24728" y="37307520"/>
            <a:ext cx="640080" cy="594360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30"/>
              </a:spcAft>
            </a:pPr>
            <a:r>
              <a:rPr sz="3300" b="1" i="0">
                <a:solidFill>
                  <a:srgbClr val="13B4C8"/>
                </a:solidFill>
                <a:latin typeface="Inter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0" y="37078920"/>
            <a:ext cx="3657600" cy="1097280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 w="12700">
            <a:solidFill>
              <a:srgbClr val="B7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93408" y="37325808"/>
            <a:ext cx="3419856" cy="576072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40"/>
              </a:spcAft>
            </a:pPr>
            <a:r>
              <a:rPr sz="2400" b="1" i="0">
                <a:solidFill>
                  <a:srgbClr val="0B3A6B"/>
                </a:solidFill>
                <a:latin typeface="Inter"/>
              </a:rPr>
              <a:t>Protótipo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7000" y="37307520"/>
            <a:ext cx="640080" cy="594360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30"/>
              </a:spcAft>
            </a:pPr>
            <a:r>
              <a:rPr sz="3300" b="1" i="0">
                <a:solidFill>
                  <a:srgbClr val="13B4C8"/>
                </a:solidFill>
                <a:latin typeface="Inter"/>
              </a:rPr>
              <a:t>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045952" y="37078920"/>
            <a:ext cx="3657600" cy="1097280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 w="12700">
            <a:solidFill>
              <a:srgbClr val="B7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155680" y="37325808"/>
            <a:ext cx="3419856" cy="576072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40"/>
              </a:spcAft>
            </a:pPr>
            <a:r>
              <a:rPr sz="2400" b="1" i="0">
                <a:solidFill>
                  <a:srgbClr val="0B3A6B"/>
                </a:solidFill>
                <a:latin typeface="Inter"/>
              </a:rPr>
              <a:t>MVP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48840" y="38560248"/>
            <a:ext cx="13057632" cy="1133856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40"/>
              </a:spcAft>
            </a:pPr>
            <a:r>
              <a:rPr sz="2400" b="0" i="0">
                <a:solidFill>
                  <a:srgbClr val="5B7391"/>
                </a:solidFill>
                <a:latin typeface="Inter"/>
              </a:rPr>
              <a:t>O MVP usa dados e pagamento simulados, sem servidor real.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6550640" y="14977872"/>
            <a:ext cx="14383512" cy="156545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550640" y="14977872"/>
            <a:ext cx="118872" cy="15654528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7053560" y="15389351"/>
            <a:ext cx="1152144" cy="612648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163288" y="15398496"/>
            <a:ext cx="932688" cy="585216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70"/>
              </a:spcAft>
            </a:pPr>
            <a:r>
              <a:rPr sz="2700" b="1" i="0">
                <a:solidFill>
                  <a:srgbClr val="0E6FA8"/>
                </a:solidFill>
                <a:latin typeface="Inter"/>
              </a:rPr>
              <a:t>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516600" y="15334488"/>
            <a:ext cx="11868912" cy="78638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20"/>
              </a:spcAft>
            </a:pPr>
            <a:r>
              <a:rPr sz="4200" b="1" i="0">
                <a:solidFill>
                  <a:srgbClr val="0B3A6B"/>
                </a:solidFill>
                <a:latin typeface="Inter"/>
              </a:rPr>
              <a:t>RESULTADOS E DISCUSSÃO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026128" y="16322039"/>
            <a:ext cx="13432536" cy="21945"/>
          </a:xfrm>
          <a:prstGeom prst="rect">
            <a:avLst/>
          </a:prstGeom>
          <a:solidFill>
            <a:srgbClr val="D3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218152" y="16477488"/>
            <a:ext cx="13048488" cy="1956816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90"/>
              </a:spcAft>
            </a:pPr>
            <a:r>
              <a:rPr sz="2900" b="0" i="0">
                <a:solidFill>
                  <a:srgbClr val="5B7391"/>
                </a:solidFill>
                <a:latin typeface="Inter"/>
              </a:rPr>
              <a:t>O protótipo no Figma já traz as telas iniciais: Home, busca e detalhe do produto, além de carrinho, checkout e status.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7199864" y="18790920"/>
            <a:ext cx="13085064" cy="7827264"/>
          </a:xfrm>
          <a:prstGeom prst="roundRect">
            <a:avLst>
              <a:gd name="adj" fmla="val 13000"/>
            </a:avLst>
          </a:prstGeom>
          <a:solidFill>
            <a:srgbClr val="EEF4FA"/>
          </a:solidFill>
          <a:ln w="17780">
            <a:solidFill>
              <a:srgbClr val="B8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7410176" y="26791920"/>
            <a:ext cx="12664440" cy="521207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30"/>
              </a:spcAft>
            </a:pPr>
            <a:r>
              <a:rPr sz="2300" b="0" i="0">
                <a:solidFill>
                  <a:srgbClr val="5B7391"/>
                </a:solidFill>
                <a:latin typeface="Inter"/>
              </a:rPr>
              <a:t>Figura 1. Telas iniciais do protótipo  •  Fonte: autores, 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245584" y="27843480"/>
            <a:ext cx="12984480" cy="438912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2500" b="1" i="0">
                <a:solidFill>
                  <a:srgbClr val="0E6FA8"/>
                </a:solidFill>
                <a:latin typeface="Inter"/>
              </a:rPr>
              <a:t>INTERPRETAÇÃO DOS RESULTADOS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245584" y="28474416"/>
            <a:ext cx="13030200" cy="1773936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70"/>
              </a:spcAft>
            </a:pPr>
            <a:r>
              <a:rPr sz="2700" b="0" i="0">
                <a:solidFill>
                  <a:srgbClr val="5B7391"/>
                </a:solidFill>
                <a:latin typeface="Inter"/>
              </a:rPr>
              <a:t>• Data da pesca e foto real mostram o frescor do peixe</a:t>
            </a:r>
          </a:p>
          <a:p>
            <a:pPr algn="l">
              <a:lnSpc>
                <a:spcPct val="122000"/>
              </a:lnSpc>
              <a:spcAft>
                <a:spcPts val="270"/>
              </a:spcAft>
            </a:pPr>
            <a:r>
              <a:rPr sz="2700" b="0" i="0">
                <a:solidFill>
                  <a:srgbClr val="5B7391"/>
                </a:solidFill>
                <a:latin typeface="Inter"/>
              </a:rPr>
              <a:t>• Taxa por zona e retirada sem taxa deixam o custo claro</a:t>
            </a:r>
          </a:p>
          <a:p>
            <a:pPr algn="l">
              <a:lnSpc>
                <a:spcPct val="122000"/>
              </a:lnSpc>
              <a:spcAft>
                <a:spcPts val="270"/>
              </a:spcAft>
            </a:pPr>
            <a:r>
              <a:rPr sz="2700" b="0" i="0">
                <a:solidFill>
                  <a:srgbClr val="5B7391"/>
                </a:solidFill>
                <a:latin typeface="Inter"/>
              </a:rPr>
              <a:t>• O vendedor atualiza o pedido e o cliente acompanha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6550640" y="30943296"/>
            <a:ext cx="14383512" cy="52760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6550640" y="30943296"/>
            <a:ext cx="118872" cy="5276088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7053560" y="31354776"/>
            <a:ext cx="1152144" cy="612648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7163288" y="31363920"/>
            <a:ext cx="932688" cy="585216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70"/>
              </a:spcAft>
            </a:pPr>
            <a:r>
              <a:rPr sz="2700" b="1" i="0">
                <a:solidFill>
                  <a:srgbClr val="0E6FA8"/>
                </a:solidFill>
                <a:latin typeface="Inter"/>
              </a:rPr>
              <a:t>06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516600" y="31299912"/>
            <a:ext cx="11868912" cy="78638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20"/>
              </a:spcAft>
            </a:pPr>
            <a:r>
              <a:rPr sz="4200" b="1" i="0">
                <a:solidFill>
                  <a:srgbClr val="0B3A6B"/>
                </a:solidFill>
                <a:latin typeface="Inter"/>
              </a:rPr>
              <a:t>CONCLUSÕES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026128" y="32287464"/>
            <a:ext cx="13432536" cy="21945"/>
          </a:xfrm>
          <a:prstGeom prst="rect">
            <a:avLst/>
          </a:prstGeom>
          <a:solidFill>
            <a:srgbClr val="D3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7227296" y="32616648"/>
            <a:ext cx="13039344" cy="2953512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90"/>
              </a:spcAft>
            </a:pPr>
            <a:r>
              <a:rPr sz="2900" b="0" i="0">
                <a:solidFill>
                  <a:srgbClr val="5B7391"/>
                </a:solidFill>
                <a:latin typeface="Inter"/>
              </a:rPr>
              <a:t>• O app dá aos vendedores locais um canal digital simples</a:t>
            </a:r>
          </a:p>
          <a:p>
            <a:pPr algn="l">
              <a:lnSpc>
                <a:spcPct val="122000"/>
              </a:lnSpc>
              <a:spcAft>
                <a:spcPts val="290"/>
              </a:spcAft>
            </a:pPr>
            <a:r>
              <a:rPr sz="2900" b="0" i="0">
                <a:solidFill>
                  <a:srgbClr val="5B7391"/>
                </a:solidFill>
                <a:latin typeface="Inter"/>
              </a:rPr>
              <a:t>• A entrega por zona e a retirada resolvem custo e logística</a:t>
            </a:r>
          </a:p>
          <a:p>
            <a:pPr algn="l">
              <a:lnSpc>
                <a:spcPct val="122000"/>
              </a:lnSpc>
              <a:spcAft>
                <a:spcPts val="290"/>
              </a:spcAft>
            </a:pPr>
            <a:r>
              <a:rPr sz="2900" b="0" i="0">
                <a:solidFill>
                  <a:srgbClr val="5B7391"/>
                </a:solidFill>
                <a:latin typeface="Inter"/>
              </a:rPr>
              <a:t>• Próximos passos: pagamento real, GPS e versão iOS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6550640" y="36530280"/>
            <a:ext cx="14383512" cy="357530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D3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6550640" y="36530280"/>
            <a:ext cx="118872" cy="3575304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7053560" y="36941760"/>
            <a:ext cx="1152144" cy="612648"/>
          </a:xfrm>
          <a:prstGeom prst="roundRect">
            <a:avLst>
              <a:gd name="adj" fmla="val 13000"/>
            </a:avLst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7163288" y="36950904"/>
            <a:ext cx="932688" cy="585216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270"/>
              </a:spcAft>
            </a:pPr>
            <a:r>
              <a:rPr sz="2700" b="1" i="0">
                <a:solidFill>
                  <a:srgbClr val="0E6FA8"/>
                </a:solidFill>
                <a:latin typeface="Inter"/>
              </a:rPr>
              <a:t>07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516600" y="36886896"/>
            <a:ext cx="11868912" cy="78638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20"/>
              </a:spcAft>
            </a:pPr>
            <a:r>
              <a:rPr sz="4200" b="1" i="0">
                <a:solidFill>
                  <a:srgbClr val="0B3A6B"/>
                </a:solidFill>
                <a:latin typeface="Inter"/>
              </a:rPr>
              <a:t>REFERÊNCIAS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7026128" y="37874448"/>
            <a:ext cx="13432536" cy="21945"/>
          </a:xfrm>
          <a:prstGeom prst="rect">
            <a:avLst/>
          </a:prstGeom>
          <a:solidFill>
            <a:srgbClr val="D3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7227296" y="38002464"/>
            <a:ext cx="13039344" cy="1353312"/>
          </a:xfrm>
          <a:prstGeom prst="rect">
            <a:avLst/>
          </a:prstGeom>
          <a:noFill/>
        </p:spPr>
        <p:txBody>
          <a:bodyPr wrap="square" lIns="0" rIns="0" tIns="27432" bIns="18288" anchor="t">
            <a:spAutoFit/>
          </a:bodyPr>
          <a:lstStyle/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2500" b="0" i="0">
                <a:solidFill>
                  <a:srgbClr val="5B7391"/>
                </a:solidFill>
                <a:latin typeface="Inter"/>
              </a:rPr>
              <a:t>AUTORES. CAIS – Aplicativo de marketplace de peixe e derivados. Documento do projeto, 2026.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2500" b="0" i="0">
                <a:solidFill>
                  <a:srgbClr val="5B7391"/>
                </a:solidFill>
                <a:latin typeface="Inter"/>
              </a:rPr>
              <a:t>AUTORES. CaisApp – Protótipo. Figma, 2026.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227296" y="39392352"/>
            <a:ext cx="13030200" cy="484632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20"/>
              </a:spcAft>
            </a:pPr>
            <a:r>
              <a:rPr sz="2200" b="0" i="1">
                <a:solidFill>
                  <a:srgbClr val="0E6FA8"/>
                </a:solidFill>
                <a:latin typeface="Inter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40489632"/>
            <a:ext cx="32400000" cy="2710368"/>
          </a:xfrm>
          <a:prstGeom prst="rect">
            <a:avLst/>
          </a:prstGeom>
          <a:solidFill>
            <a:srgbClr val="0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0" y="40480488"/>
            <a:ext cx="32400000" cy="100584"/>
          </a:xfrm>
          <a:prstGeom prst="rect">
            <a:avLst/>
          </a:prstGeom>
          <a:solidFill>
            <a:srgbClr val="13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99616" y="40974264"/>
            <a:ext cx="14630400" cy="475488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70"/>
              </a:spcAft>
            </a:pPr>
            <a:r>
              <a:rPr sz="2700" b="1" i="0">
                <a:solidFill>
                  <a:srgbClr val="8FE3EE"/>
                </a:solidFill>
                <a:latin typeface="Inter"/>
              </a:rPr>
              <a:t>AGRADECIMENTOS / APOIO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99616" y="41559480"/>
            <a:ext cx="18288000" cy="969264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50"/>
              </a:spcAft>
            </a:pPr>
            <a:r>
              <a:rPr sz="2500" b="0" i="0">
                <a:solidFill>
                  <a:srgbClr val="FFFFFF"/>
                </a:solidFill>
                <a:latin typeface="Inter"/>
              </a:rPr>
              <a:t>Fucapi – Fundação Centro de Análise, Pesquisa e Inovação Tecnológica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99616" y="42592752"/>
            <a:ext cx="16459200" cy="347472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20"/>
              </a:spcAft>
            </a:pPr>
            <a:r>
              <a:rPr sz="2200" b="0" i="0">
                <a:solidFill>
                  <a:srgbClr val="B5CAD6"/>
                </a:solidFill>
                <a:latin typeface="Inter"/>
              </a:rPr>
              <a:t>20–21 OUT 2026  •  MANAUS – AM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7258264" y="40919400"/>
            <a:ext cx="1810512" cy="18105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468576" y="41138856"/>
            <a:ext cx="1389888" cy="1362456"/>
          </a:xfrm>
          <a:prstGeom prst="rect">
            <a:avLst/>
          </a:prstGeom>
          <a:solidFill>
            <a:srgbClr val="E7EFF2"/>
          </a:solidFill>
          <a:ln w="13970">
            <a:solidFill>
              <a:srgbClr val="98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614880" y="41550336"/>
            <a:ext cx="1097280" cy="548640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20"/>
              </a:spcAft>
            </a:pPr>
            <a:r>
              <a:rPr sz="3200" b="1" i="0">
                <a:solidFill>
                  <a:srgbClr val="0E6FA8"/>
                </a:solidFill>
                <a:latin typeface="Inter"/>
              </a:rPr>
              <a:t>QR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3938992" y="42812208"/>
            <a:ext cx="9070848" cy="228600"/>
          </a:xfrm>
          <a:prstGeom prst="rect">
            <a:avLst/>
          </a:prstGeom>
          <a:noFill/>
        </p:spPr>
        <p:txBody>
          <a:bodyPr wrap="square" lIns="0" rIns="0" tIns="27432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7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PROTÓTIPO NO FIGMA</a:t>
            </a:r>
          </a:p>
        </p:txBody>
      </p:sp>
      <p:pic>
        <p:nvPicPr>
          <p:cNvPr id="113" name="Picture 112" descr="179245500633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4466" y="19194552"/>
            <a:ext cx="10395859" cy="7020000"/>
          </a:xfrm>
          <a:prstGeom prst="rect">
            <a:avLst/>
          </a:prstGeom>
        </p:spPr>
      </p:pic>
      <p:pic>
        <p:nvPicPr>
          <p:cNvPr id="114" name="Picture 113" descr="cai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0000" y="9432000"/>
            <a:ext cx="3240000" cy="32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